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69" r:id="rId3"/>
    <p:sldId id="268" r:id="rId4"/>
    <p:sldId id="271" r:id="rId5"/>
    <p:sldId id="272" r:id="rId6"/>
    <p:sldId id="260" r:id="rId7"/>
    <p:sldId id="262" r:id="rId8"/>
    <p:sldId id="261" r:id="rId9"/>
    <p:sldId id="263" r:id="rId10"/>
    <p:sldId id="264" r:id="rId11"/>
    <p:sldId id="267" r:id="rId12"/>
    <p:sldId id="259" r:id="rId13"/>
    <p:sldId id="266" r:id="rId14"/>
    <p:sldId id="265" r:id="rId15"/>
    <p:sldId id="25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C2E78-F9F2-4F8B-BBA8-C9152906E478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22E75-E3A4-49CF-9AC4-205E96531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559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92DB2-6FC2-8A7C-EE23-FD270680C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FB163E-B4D7-D070-67F9-DA7C8AB8D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B9CCE1-6C7D-C976-140F-6AADB5D7D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C944-AC02-4BD8-B25E-AB4B2F88E8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30B224-8ADA-F116-B2AD-AFB2FE5E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7618B2-1586-452B-150B-55FE1F3A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1E3DD-D5FF-470C-B65C-68DC6D6DF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18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0EE73-7365-0CAA-7B74-E1CD11A4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11C65B-7814-E502-F44D-A0630A24A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D91A6-B58C-312A-C34E-EF2D3B01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C944-AC02-4BD8-B25E-AB4B2F88E8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50975E-DEA2-54B7-4B70-22B082E4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925AA9-5638-1FAD-F37B-4CF3651A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1E3DD-D5FF-470C-B65C-68DC6D6DF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174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367E4-298F-7811-1573-2730416B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351C1B-3194-9322-478A-7818602CE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C96445-B794-6898-6BAC-6F4ECF04D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C944-AC02-4BD8-B25E-AB4B2F88E8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009FAE-8AC4-5214-83BC-39674C2B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7DBD2C-E542-B391-FB41-AED32D912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1E3DD-D5FF-470C-B65C-68DC6D6DF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857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63BE6-AB9D-A8D3-F86D-04435FA04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F94902-17AF-33B9-65FC-D1D7BA03B6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466047-C284-F5EF-D78A-78C61F556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27D152-C9C5-3A9B-A8F3-E407F3BA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C944-AC02-4BD8-B25E-AB4B2F88E8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4C4D83-B43B-A6DF-5253-4D90C416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304855-03C2-A4AE-E2DB-5C8A111A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1E3DD-D5FF-470C-B65C-68DC6D6DF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486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8BC03-479F-F1F1-1374-C42D77FC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199D31-DA1F-81C4-05D0-F13B7AC25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4E5DCA-8E15-5B9B-3410-DEE164138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EB28E2-A6B3-88E9-3D7A-6E8C5AFFA6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5D27E8-664B-815E-8BD2-3BEDAFD42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FD7A8F-4C18-8916-AC99-7508664C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C944-AC02-4BD8-B25E-AB4B2F88E8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2202A07-59EA-669B-CC02-A9B55150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92DA668-F53B-E7D6-A5DE-DE72A327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1E3DD-D5FF-470C-B65C-68DC6D6DF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08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11944-7AB1-2DAF-DDA6-B46FE802A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19B058-4B03-1D49-059F-F5219A6ED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C944-AC02-4BD8-B25E-AB4B2F88E8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3C84BD-D35B-5C94-F3AA-879F60A4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2C9F6A-622A-C8B1-81F2-C949F798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1E3DD-D5FF-470C-B65C-68DC6D6DF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423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4FC1DB-271E-2C29-59BB-582153E82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C944-AC02-4BD8-B25E-AB4B2F88E8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3E2D451-5E5F-B8BE-7A65-22946610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4D54F4-E13D-A79D-E26E-C8B0EFA6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1E3DD-D5FF-470C-B65C-68DC6D6DF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59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70ADD-EC86-2D56-1962-DA016FAE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85B869-7563-BA5F-BDB2-C85B8EE84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0B2C69-99C7-8201-8516-84D2E70BC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B29302-D124-52C3-47B8-B80657590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C944-AC02-4BD8-B25E-AB4B2F88E8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3A8835-C294-485E-65C6-CA2354747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24C4DA-26EB-6BA4-B6C1-F5CBC5AA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1E3DD-D5FF-470C-B65C-68DC6D6DF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475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5F886-415B-E060-388B-E41FA404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A40B59-285E-4029-ACDC-FF6179899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6EDAEF-A167-E420-D5F0-AB683FC41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6EC5D0-8CA4-D8F3-8B7F-6AA2ADF8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C944-AC02-4BD8-B25E-AB4B2F88E8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90FD2B-4A73-7713-90DB-C8931842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1D8AD8-3C10-C91F-D49A-A3B68BF62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1E3DD-D5FF-470C-B65C-68DC6D6DF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89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7F7C36-01EE-AD79-E13D-739A6DCE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A3EA84-E851-B789-9DFE-3EB135058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D7EE7C-4696-BBBB-3FC6-1F8E118B9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C944-AC02-4BD8-B25E-AB4B2F88E8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667F93-78E1-DBA5-37FE-5A0F74D7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BB03C0-FEAB-9B27-C1AF-AFC24BF8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1E3DD-D5FF-470C-B65C-68DC6D6DF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803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3150E1-3325-3BE7-4280-DDFAF7E04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874403-66FC-C146-AFB4-A1D7D220D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966F8-915E-8136-AC59-8610CC342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C944-AC02-4BD8-B25E-AB4B2F88E8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C05DAF-C559-FE9B-6DF0-DC7623D4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E03884-816F-B217-4A1D-27C883D20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1E3DD-D5FF-470C-B65C-68DC6D6DF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64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230AE1-3795-21CC-ED36-9E5A0E47D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6ACCC8-B07F-2917-06C6-12AA86C9A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00FCD-4D68-2C00-D039-0593CFCB9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BC944-AC02-4BD8-B25E-AB4B2F88E8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B5A3CF-9ACC-45D6-0BFE-5DE7B18FD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CBA1C0-0126-5B60-C04F-49732FDC6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1E3DD-D5FF-470C-B65C-68DC6D6DF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99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886A-4348-C033-AED5-BC3BF8A2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DCF4B4C9-F970-2342-5DFD-11A9BC42B37C}"/>
              </a:ext>
            </a:extLst>
          </p:cNvPr>
          <p:cNvSpPr txBox="1"/>
          <p:nvPr/>
        </p:nvSpPr>
        <p:spPr>
          <a:xfrm>
            <a:off x="125080" y="170938"/>
            <a:ext cx="3653818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latin typeface="맑은 고딕" panose="020B0503020000020004" pitchFamily="50" charset="-127"/>
              </a:rPr>
              <a:t>JungSeok</a:t>
            </a:r>
            <a:r>
              <a:rPr lang="en-US" altLang="ko-KR" b="1" dirty="0">
                <a:latin typeface="맑은 고딕" panose="020B0503020000020004" pitchFamily="50" charset="-127"/>
              </a:rPr>
              <a:t> Food(</a:t>
            </a:r>
            <a:r>
              <a:rPr lang="en-US" altLang="ko-KR" b="1" dirty="0" err="1">
                <a:latin typeface="맑은 고딕" panose="020B0503020000020004" pitchFamily="50" charset="-127"/>
              </a:rPr>
              <a:t>Jangsung</a:t>
            </a:r>
            <a:r>
              <a:rPr lang="en-US" altLang="ko-KR" b="1" dirty="0"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59562-7CE6-9BC4-DE6E-CD6B3E5EA4D7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E9C0D1-777C-C891-7744-0C5DE146995E}"/>
              </a:ext>
            </a:extLst>
          </p:cNvPr>
          <p:cNvSpPr txBox="1"/>
          <p:nvPr/>
        </p:nvSpPr>
        <p:spPr>
          <a:xfrm>
            <a:off x="373228" y="2241506"/>
            <a:ext cx="2687217" cy="8213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4) Operate Cate(total 34 SKU)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Pork(Chilled) / 33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Pork(Frozen) / 1 SKU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A9639-62B0-0F17-A615-5FA0CCB1230C}"/>
              </a:ext>
            </a:extLst>
          </p:cNvPr>
          <p:cNvSpPr txBox="1"/>
          <p:nvPr/>
        </p:nvSpPr>
        <p:spPr>
          <a:xfrm>
            <a:off x="373228" y="1150626"/>
            <a:ext cx="1511559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1) Business career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2017y ~ 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411FF9-4763-D034-BA45-70D38167715F}"/>
              </a:ext>
            </a:extLst>
          </p:cNvPr>
          <p:cNvSpPr txBox="1"/>
          <p:nvPr/>
        </p:nvSpPr>
        <p:spPr>
          <a:xfrm>
            <a:off x="6690051" y="1150625"/>
            <a:ext cx="3442994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3) 25y total GMV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14 billion won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05B92-ECF3-E097-7145-DD907FC55B6F}"/>
              </a:ext>
            </a:extLst>
          </p:cNvPr>
          <p:cNvSpPr txBox="1"/>
          <p:nvPr/>
        </p:nvSpPr>
        <p:spPr>
          <a:xfrm>
            <a:off x="3247057" y="2240568"/>
            <a:ext cx="2687217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5) Other OEM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Cacao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18A6D-2AF2-5208-8786-B684CE47C7F3}"/>
              </a:ext>
            </a:extLst>
          </p:cNvPr>
          <p:cNvSpPr txBox="1"/>
          <p:nvPr/>
        </p:nvSpPr>
        <p:spPr>
          <a:xfrm>
            <a:off x="6690051" y="2031861"/>
            <a:ext cx="2687217" cy="165333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6) Diversity of Packaging Types 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  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Pouch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endParaRPr lang="en-US" altLang="ko-KR" sz="1100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/>
              <a:t>  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Top sealing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200" dirty="0"/>
              <a:t>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MAP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/>
              <a:t>☐ </a:t>
            </a:r>
            <a:r>
              <a:rPr lang="en-US" altLang="ko-KR" sz="1100" dirty="0"/>
              <a:t>Skin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/>
              <a:t>☐ </a:t>
            </a:r>
            <a:r>
              <a:rPr lang="en-US" altLang="ko-KR" sz="1100" dirty="0"/>
              <a:t>Multivac</a:t>
            </a: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E2073B-9E77-5934-5788-20F96F48F865}"/>
              </a:ext>
            </a:extLst>
          </p:cNvPr>
          <p:cNvSpPr txBox="1"/>
          <p:nvPr/>
        </p:nvSpPr>
        <p:spPr>
          <a:xfrm>
            <a:off x="373228" y="3745055"/>
            <a:ext cx="2687217" cy="158312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7) Capacity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3 t / day (66 t / month)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 - Pork/Beef 3 t 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Full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capa</a:t>
            </a:r>
            <a:r>
              <a:rPr lang="en-US" altLang="ko-KR" sz="1100" dirty="0">
                <a:latin typeface="맑은 고딕" panose="020B0503020000020004" pitchFamily="50" charset="-127"/>
              </a:rPr>
              <a:t> – 4.5 t /d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Spare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capa</a:t>
            </a:r>
            <a:r>
              <a:rPr lang="en-US" altLang="ko-KR" sz="1100" dirty="0">
                <a:latin typeface="맑은 고딕" panose="020B0503020000020004" pitchFamily="50" charset="-127"/>
              </a:rPr>
              <a:t> – 1.5 t /d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0C5A1B-EC74-530D-1638-BD9FD4BF8BA7}"/>
              </a:ext>
            </a:extLst>
          </p:cNvPr>
          <p:cNvSpPr txBox="1"/>
          <p:nvPr/>
        </p:nvSpPr>
        <p:spPr>
          <a:xfrm>
            <a:off x="3186410" y="3745055"/>
            <a:ext cx="3318590" cy="107529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8) raw material standards(Fresh condition)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Pork(Chilled), 8/15d – 53.3%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Pork(Frozen), 129/300d – 43%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-</a:t>
            </a:r>
            <a:r>
              <a:rPr lang="ko-KR" altLang="en-US" sz="1100" b="1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Avg. slaughter ~ FC :  48.1%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CD85C2-C61D-8D9D-1BB6-CB6C73AC004B}"/>
              </a:ext>
            </a:extLst>
          </p:cNvPr>
          <p:cNvSpPr/>
          <p:nvPr/>
        </p:nvSpPr>
        <p:spPr>
          <a:xfrm>
            <a:off x="335902" y="987785"/>
            <a:ext cx="9797143" cy="4937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DEE8FD-266C-A701-7B75-55FE8D450BC4}"/>
              </a:ext>
            </a:extLst>
          </p:cNvPr>
          <p:cNvSpPr txBox="1"/>
          <p:nvPr/>
        </p:nvSpPr>
        <p:spPr>
          <a:xfrm>
            <a:off x="6752253" y="3745055"/>
            <a:ext cx="3318590" cy="107529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9) raw material supply control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√ 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Deboning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 - Use of self-deboning mate : 70 %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- Market purchase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: 30 %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F841B-9778-DC20-42A1-4982FF5B8DA0}"/>
              </a:ext>
            </a:extLst>
          </p:cNvPr>
          <p:cNvSpPr txBox="1"/>
          <p:nvPr/>
        </p:nvSpPr>
        <p:spPr>
          <a:xfrm>
            <a:off x="3186410" y="1150626"/>
            <a:ext cx="2687217" cy="8213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2) 25y sales revenue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Packaged meat: 15 billion won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Part meat: 30 billion won  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828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F4697-5E5C-E998-2AAB-CAD50B405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B6BEAECB-DA61-79BF-0EEA-E64C21A5FF52}"/>
              </a:ext>
            </a:extLst>
          </p:cNvPr>
          <p:cNvSpPr txBox="1"/>
          <p:nvPr/>
        </p:nvSpPr>
        <p:spPr>
          <a:xfrm>
            <a:off x="125080" y="170938"/>
            <a:ext cx="3719132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latin typeface="맑은 고딕" panose="020B0503020000020004" pitchFamily="50" charset="-127"/>
              </a:rPr>
              <a:t>JungSeok</a:t>
            </a:r>
            <a:r>
              <a:rPr lang="en-US" altLang="ko-KR" b="1" dirty="0">
                <a:latin typeface="맑은 고딕" panose="020B0503020000020004" pitchFamily="50" charset="-127"/>
              </a:rPr>
              <a:t> Food(</a:t>
            </a:r>
            <a:r>
              <a:rPr lang="en-US" altLang="ko-KR" b="1" dirty="0" err="1">
                <a:latin typeface="맑은 고딕" panose="020B0503020000020004" pitchFamily="50" charset="-127"/>
              </a:rPr>
              <a:t>Jangsung</a:t>
            </a:r>
            <a:r>
              <a:rPr lang="en-US" altLang="ko-KR" b="1" dirty="0"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6CE93-4938-E0F8-B0F2-1EAD99C06E47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517286-CADD-3DB4-E3A0-3D0D018B5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28" y="1175664"/>
            <a:ext cx="3480338" cy="37265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5551F68-4D6A-2693-CE99-A4CC4D44A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613" y="1149425"/>
            <a:ext cx="5654530" cy="36655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46A2116-9E62-6119-44AE-8BFC96ED7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165" y="3907064"/>
            <a:ext cx="3845955" cy="286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9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B41E-5E3C-B957-CCC4-614B78F15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EA6AE513-ADD1-D23C-D505-175FDA99CAFA}"/>
              </a:ext>
            </a:extLst>
          </p:cNvPr>
          <p:cNvSpPr txBox="1"/>
          <p:nvPr/>
        </p:nvSpPr>
        <p:spPr>
          <a:xfrm>
            <a:off x="125080" y="170938"/>
            <a:ext cx="3653818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latin typeface="맑은 고딕" panose="020B0503020000020004" pitchFamily="50" charset="-127"/>
              </a:rPr>
              <a:t>JungSeok</a:t>
            </a:r>
            <a:r>
              <a:rPr lang="en-US" altLang="ko-KR" b="1" dirty="0">
                <a:latin typeface="맑은 고딕" panose="020B0503020000020004" pitchFamily="50" charset="-127"/>
              </a:rPr>
              <a:t> Food(Naju)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5ED59-64E7-9860-250A-FA17F52E831E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42278-AAD7-6B47-7E01-EFBBFC7FDF61}"/>
              </a:ext>
            </a:extLst>
          </p:cNvPr>
          <p:cNvSpPr txBox="1"/>
          <p:nvPr/>
        </p:nvSpPr>
        <p:spPr>
          <a:xfrm>
            <a:off x="373228" y="1150626"/>
            <a:ext cx="1511559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1) Business career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2019y ~ 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0AE3B-ABCD-2D30-CF27-D80E37440632}"/>
              </a:ext>
            </a:extLst>
          </p:cNvPr>
          <p:cNvSpPr txBox="1"/>
          <p:nvPr/>
        </p:nvSpPr>
        <p:spPr>
          <a:xfrm>
            <a:off x="6690051" y="1150625"/>
            <a:ext cx="3442994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3) 25y total GMV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3 billion won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FA1D6-13E5-D924-73E0-9BD4F50883EC}"/>
              </a:ext>
            </a:extLst>
          </p:cNvPr>
          <p:cNvSpPr txBox="1"/>
          <p:nvPr/>
        </p:nvSpPr>
        <p:spPr>
          <a:xfrm>
            <a:off x="3371461" y="1972005"/>
            <a:ext cx="2687217" cy="107529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5) Other OEM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Cacao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Mokwoocheon</a:t>
            </a:r>
            <a:endParaRPr lang="en-US" altLang="ko-KR" sz="1100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</a:t>
            </a:r>
            <a:r>
              <a:rPr lang="en-US" altLang="ko-KR" sz="1100" dirty="0">
                <a:latin typeface="맑은 고딕" panose="020B0503020000020004" pitchFamily="50" charset="-127"/>
              </a:rPr>
              <a:t> Dongwon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HomeFood</a:t>
            </a: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FE9EE-7D2F-EBF6-83E3-1AFE9CD9C89C}"/>
              </a:ext>
            </a:extLst>
          </p:cNvPr>
          <p:cNvSpPr txBox="1"/>
          <p:nvPr/>
        </p:nvSpPr>
        <p:spPr>
          <a:xfrm>
            <a:off x="6659727" y="1880928"/>
            <a:ext cx="2687217" cy="165333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6) Diversity of Packaging Types 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  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Pouch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endParaRPr lang="en-US" altLang="ko-KR" sz="1100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/>
              <a:t>  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Top sealing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200" dirty="0"/>
              <a:t>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MAP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/>
              <a:t>☑ </a:t>
            </a:r>
            <a:r>
              <a:rPr lang="en-US" altLang="ko-KR" sz="1100" dirty="0"/>
              <a:t>Skin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/>
              <a:t>☑ </a:t>
            </a:r>
            <a:r>
              <a:rPr lang="en-US" altLang="ko-KR" sz="1100" dirty="0"/>
              <a:t>Multivac</a:t>
            </a: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38435B-17A5-863D-B94E-B0B707FCCFF0}"/>
              </a:ext>
            </a:extLst>
          </p:cNvPr>
          <p:cNvSpPr txBox="1"/>
          <p:nvPr/>
        </p:nvSpPr>
        <p:spPr>
          <a:xfrm>
            <a:off x="373228" y="3618098"/>
            <a:ext cx="2687217" cy="183704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7) Capacity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5 t / day (110 t / month)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 - Pork: 1.2 t /d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 - Beef: 3.7 t /d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Full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capa</a:t>
            </a:r>
            <a:r>
              <a:rPr lang="en-US" altLang="ko-KR" sz="1100" dirty="0">
                <a:latin typeface="맑은 고딕" panose="020B0503020000020004" pitchFamily="50" charset="-127"/>
              </a:rPr>
              <a:t> – 6 t /d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Spare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capa</a:t>
            </a:r>
            <a:r>
              <a:rPr lang="en-US" altLang="ko-KR" sz="1100" dirty="0">
                <a:latin typeface="맑은 고딕" panose="020B0503020000020004" pitchFamily="50" charset="-127"/>
              </a:rPr>
              <a:t> – 1 t /d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6D054A-35B1-55A1-E42A-BFB6EF45B4DB}"/>
              </a:ext>
            </a:extLst>
          </p:cNvPr>
          <p:cNvSpPr txBox="1"/>
          <p:nvPr/>
        </p:nvSpPr>
        <p:spPr>
          <a:xfrm>
            <a:off x="3060445" y="3618098"/>
            <a:ext cx="3318590" cy="158312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8) raw material standards(Fresh condition)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Pork(Chilled), 7/15d – 46.6%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Pork(Chilled), 29.8/300d – 9.9%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Pork(Chilled), 17.8/23d – 77.4%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Beef(Frozen), 68.9/180d – 38.2% 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-</a:t>
            </a:r>
            <a:r>
              <a:rPr lang="ko-KR" altLang="en-US" sz="1100" b="1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Avg. slaughter ~ FC :  43%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CE0D9C-65DE-DFD3-0601-9AA821C81E4D}"/>
              </a:ext>
            </a:extLst>
          </p:cNvPr>
          <p:cNvSpPr/>
          <p:nvPr/>
        </p:nvSpPr>
        <p:spPr>
          <a:xfrm>
            <a:off x="335902" y="987785"/>
            <a:ext cx="9797143" cy="4937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B51B7-2749-CE84-BC12-616A877C1177}"/>
              </a:ext>
            </a:extLst>
          </p:cNvPr>
          <p:cNvSpPr txBox="1"/>
          <p:nvPr/>
        </p:nvSpPr>
        <p:spPr>
          <a:xfrm>
            <a:off x="6659727" y="3618098"/>
            <a:ext cx="3318590" cy="25987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9) raw material supply control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√ 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Deboning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100" b="1" dirty="0">
                <a:latin typeface="맑은 고딕" panose="020B0503020000020004" pitchFamily="50" charset="-127"/>
                <a:sym typeface="Wingdings" panose="05000000000000000000" pitchFamily="2" charset="2"/>
              </a:rPr>
              <a:t> Beef</a:t>
            </a:r>
            <a:endParaRPr lang="en-US" altLang="ko-KR" sz="1100" b="1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 - Use of self-deboning mate : 10 %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- Market purchase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: 90 %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b="1" dirty="0">
                <a:latin typeface="맑은 고딕" panose="020B0503020000020004" pitchFamily="50" charset="-127"/>
                <a:sym typeface="Wingdings" panose="05000000000000000000" pitchFamily="2" charset="2"/>
              </a:rPr>
              <a:t> Pork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- Use of self-deboning mate : 70 %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- Market purchase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: 30 %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ADFD3-8501-2A49-70D4-456D8DCF85E9}"/>
              </a:ext>
            </a:extLst>
          </p:cNvPr>
          <p:cNvSpPr txBox="1"/>
          <p:nvPr/>
        </p:nvSpPr>
        <p:spPr>
          <a:xfrm>
            <a:off x="3186410" y="1150626"/>
            <a:ext cx="2687217" cy="8213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2) 25y sales revenue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Packaged meat: 57 billion won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9A7FE-2858-98B5-0801-BA626A11ACEB}"/>
              </a:ext>
            </a:extLst>
          </p:cNvPr>
          <p:cNvSpPr txBox="1"/>
          <p:nvPr/>
        </p:nvSpPr>
        <p:spPr>
          <a:xfrm>
            <a:off x="373228" y="1987591"/>
            <a:ext cx="2687217" cy="13292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4) Operate Cate(total 26 SKU)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Pork(Chilled) / 16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Pork(Chilled) / 2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Pork(Chilled) / 4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Beef(Frozen) / 4 SKU</a:t>
            </a:r>
          </a:p>
        </p:txBody>
      </p:sp>
    </p:spTree>
    <p:extLst>
      <p:ext uri="{BB962C8B-B14F-4D97-AF65-F5344CB8AC3E}">
        <p14:creationId xmlns:p14="http://schemas.microsoft.com/office/powerpoint/2010/main" val="298361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0AEC-1E53-3993-2797-E7C7D9B15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D06DD70D-AAF1-E395-6D18-685CA559D8E4}"/>
              </a:ext>
            </a:extLst>
          </p:cNvPr>
          <p:cNvSpPr txBox="1"/>
          <p:nvPr/>
        </p:nvSpPr>
        <p:spPr>
          <a:xfrm>
            <a:off x="125080" y="170938"/>
            <a:ext cx="3719132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latin typeface="맑은 고딕" panose="020B0503020000020004" pitchFamily="50" charset="-127"/>
              </a:rPr>
              <a:t>JungSeok</a:t>
            </a:r>
            <a:r>
              <a:rPr lang="en-US" altLang="ko-KR" b="1" dirty="0">
                <a:latin typeface="맑은 고딕" panose="020B0503020000020004" pitchFamily="50" charset="-127"/>
              </a:rPr>
              <a:t> Food(Naju)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3FE76-AB4D-6E49-A8CA-CF6A7F6B8C18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89D82C2-F372-EBB0-AB89-75B16B618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71" y="305273"/>
            <a:ext cx="7026249" cy="32921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0454EA3-FD5C-08DA-5504-E4EADD75E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80" y="2867571"/>
            <a:ext cx="5722772" cy="353733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4F0A47B-4421-6640-C0DE-37DE60AE4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080" y="2761673"/>
            <a:ext cx="4255880" cy="364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0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CA5EC-358C-D5FA-64A7-85447D971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81079861-1E0B-58E1-F3DF-7EB650D7E8FF}"/>
              </a:ext>
            </a:extLst>
          </p:cNvPr>
          <p:cNvSpPr txBox="1"/>
          <p:nvPr/>
        </p:nvSpPr>
        <p:spPr>
          <a:xfrm>
            <a:off x="125080" y="170938"/>
            <a:ext cx="3719132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latin typeface="맑은 고딕" panose="020B0503020000020004" pitchFamily="50" charset="-127"/>
              </a:rPr>
              <a:t>JungSeok</a:t>
            </a:r>
            <a:r>
              <a:rPr lang="en-US" altLang="ko-KR" b="1" dirty="0">
                <a:latin typeface="맑은 고딕" panose="020B0503020000020004" pitchFamily="50" charset="-127"/>
              </a:rPr>
              <a:t> Food(Naju)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214099-404E-7A3E-7BC6-512E54179C2E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FF443B1-C1F2-1951-2C46-D0E0EE578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" y="1140287"/>
            <a:ext cx="4922867" cy="488543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A03BDE5-A728-9817-5C43-48BD503B8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324" y="1140287"/>
            <a:ext cx="4771556" cy="485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20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ED25-6F15-910F-982B-2C6F70469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8A90741D-16DF-1C7E-02B3-8379D6F38D63}"/>
              </a:ext>
            </a:extLst>
          </p:cNvPr>
          <p:cNvSpPr txBox="1"/>
          <p:nvPr/>
        </p:nvSpPr>
        <p:spPr>
          <a:xfrm>
            <a:off x="125080" y="170938"/>
            <a:ext cx="2459499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</a:rPr>
              <a:t>Winners Food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5704E-8D53-22CB-E0EA-B441E9B0DD99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B31C76-C224-3BFC-707D-45DCA2EA0A74}"/>
              </a:ext>
            </a:extLst>
          </p:cNvPr>
          <p:cNvSpPr txBox="1"/>
          <p:nvPr/>
        </p:nvSpPr>
        <p:spPr>
          <a:xfrm>
            <a:off x="373227" y="2164706"/>
            <a:ext cx="2687217" cy="183704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4) Operate Cate(total 42 SKU)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Pork(Chilled) / 4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Pork(Chilled) / 7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Beef(Chilled) / 12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Beef(Frozen) / 3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Seasoned meat(Chilled) / 16 SKU</a:t>
            </a:r>
          </a:p>
          <a:p>
            <a:pPr>
              <a:lnSpc>
                <a:spcPct val="150000"/>
              </a:lnSpc>
            </a:pP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B9021-656B-A91E-7BF0-076B908EBB82}"/>
              </a:ext>
            </a:extLst>
          </p:cNvPr>
          <p:cNvSpPr txBox="1"/>
          <p:nvPr/>
        </p:nvSpPr>
        <p:spPr>
          <a:xfrm>
            <a:off x="373228" y="1150626"/>
            <a:ext cx="1511559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1) Business career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2020y ~ 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F9D21-2D34-C68B-53CB-1D4ED9D25C79}"/>
              </a:ext>
            </a:extLst>
          </p:cNvPr>
          <p:cNvSpPr txBox="1"/>
          <p:nvPr/>
        </p:nvSpPr>
        <p:spPr>
          <a:xfrm>
            <a:off x="3186410" y="1150626"/>
            <a:ext cx="2687217" cy="8213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2) 25y sales revenue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Packaged meat: 15 billion won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Seasoned meat: 15 billion won  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8132A-AD92-ADA5-6F75-20B8DCA163AC}"/>
              </a:ext>
            </a:extLst>
          </p:cNvPr>
          <p:cNvSpPr txBox="1"/>
          <p:nvPr/>
        </p:nvSpPr>
        <p:spPr>
          <a:xfrm>
            <a:off x="5910952" y="1150626"/>
            <a:ext cx="4879908" cy="107529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3) 25y total GMV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22 billion won</a:t>
            </a:r>
            <a:endParaRPr lang="en-US" altLang="ko-KR" sz="1100" b="1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   - </a:t>
            </a:r>
            <a:r>
              <a:rPr lang="en-US" altLang="ko-KR" sz="1100" dirty="0">
                <a:latin typeface="맑은 고딕" panose="020B0503020000020004" pitchFamily="50" charset="-127"/>
              </a:rPr>
              <a:t>Code: Winners Food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+ Seoul-well Food 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                                              + Winners Food-The Fresh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B89C3-2B59-A5E6-0E6B-D5BC0DA968E0}"/>
              </a:ext>
            </a:extLst>
          </p:cNvPr>
          <p:cNvSpPr txBox="1"/>
          <p:nvPr/>
        </p:nvSpPr>
        <p:spPr>
          <a:xfrm>
            <a:off x="3186410" y="2180564"/>
            <a:ext cx="2687217" cy="13292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5) Other OEM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Gyunwoo</a:t>
            </a:r>
            <a:r>
              <a:rPr lang="en-US" altLang="ko-KR" sz="1100" dirty="0">
                <a:latin typeface="맑은 고딕" panose="020B0503020000020004" pitchFamily="50" charset="-127"/>
              </a:rPr>
              <a:t> food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</a:t>
            </a:r>
            <a:r>
              <a:rPr lang="en-US" altLang="ko-KR" sz="1100" dirty="0">
                <a:latin typeface="맑은 고딕" panose="020B0503020000020004" pitchFamily="50" charset="-127"/>
              </a:rPr>
              <a:t> E-mart(traders)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</a:t>
            </a:r>
            <a:r>
              <a:rPr lang="en-US" altLang="ko-KR" sz="1100" dirty="0" err="1">
                <a:latin typeface="맑은 고딕" panose="020B0503020000020004" pitchFamily="50" charset="-127"/>
              </a:rPr>
              <a:t>Haesung</a:t>
            </a:r>
            <a:r>
              <a:rPr lang="en-US" altLang="ko-KR" sz="1100" dirty="0">
                <a:latin typeface="맑은 고딕" panose="020B0503020000020004" pitchFamily="50" charset="-127"/>
              </a:rPr>
              <a:t> Provision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CU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0CF08-EF4A-8EF8-58E9-AC4B6107FB81}"/>
              </a:ext>
            </a:extLst>
          </p:cNvPr>
          <p:cNvSpPr txBox="1"/>
          <p:nvPr/>
        </p:nvSpPr>
        <p:spPr>
          <a:xfrm>
            <a:off x="5910952" y="2180564"/>
            <a:ext cx="2687217" cy="163025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6) Diversity of Packaging Types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/>
              <a:t>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Pouch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200" dirty="0"/>
              <a:t>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Top sealing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  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MAP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/>
              <a:t>☑ </a:t>
            </a:r>
            <a:r>
              <a:rPr lang="en-US" altLang="ko-KR" sz="1100" dirty="0"/>
              <a:t>Skin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/>
              <a:t>☐ </a:t>
            </a:r>
            <a:r>
              <a:rPr lang="en-US" altLang="ko-KR" sz="1100" dirty="0"/>
              <a:t>Multivac</a:t>
            </a: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A3E93F-AB7B-B7B2-C20F-7C606A62DE32}"/>
              </a:ext>
            </a:extLst>
          </p:cNvPr>
          <p:cNvSpPr txBox="1"/>
          <p:nvPr/>
        </p:nvSpPr>
        <p:spPr>
          <a:xfrm>
            <a:off x="373228" y="3903679"/>
            <a:ext cx="2687217" cy="158312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7) Capacity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15 t / day (330 t / month)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 - Seasoned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meat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5t, Pork 4t, Beef 6t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Full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capa</a:t>
            </a:r>
            <a:r>
              <a:rPr lang="en-US" altLang="ko-KR" sz="1100" dirty="0">
                <a:latin typeface="맑은 고딕" panose="020B0503020000020004" pitchFamily="50" charset="-127"/>
              </a:rPr>
              <a:t> – 20 t /d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Spare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capa</a:t>
            </a:r>
            <a:r>
              <a:rPr lang="en-US" altLang="ko-KR" sz="1100" dirty="0">
                <a:latin typeface="맑은 고딕" panose="020B0503020000020004" pitchFamily="50" charset="-127"/>
              </a:rPr>
              <a:t> – 5 t /d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EF073-9A93-AE48-E76F-0273D073EAD8}"/>
              </a:ext>
            </a:extLst>
          </p:cNvPr>
          <p:cNvSpPr txBox="1"/>
          <p:nvPr/>
        </p:nvSpPr>
        <p:spPr>
          <a:xfrm>
            <a:off x="3215952" y="3832281"/>
            <a:ext cx="3318590" cy="209095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8) raw material standards(Fresh condition)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</a:t>
            </a:r>
            <a:r>
              <a:rPr lang="ko-KR" altLang="en-US" sz="1100" b="1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Avg. slaughter ~ FC :  71.5%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-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Pork(Chilled), 10.7/15d – 71% 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-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Pork(Chilled), 41.8/45d – 93%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-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Beef(Chilled), 48.5/58d – 84%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-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Beef(Frozen), 206.7/365d – 57%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-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Seasoned meat(Chilled)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893332-D1CF-6EDB-37C8-11DFA0B65C6C}"/>
              </a:ext>
            </a:extLst>
          </p:cNvPr>
          <p:cNvSpPr/>
          <p:nvPr/>
        </p:nvSpPr>
        <p:spPr>
          <a:xfrm>
            <a:off x="335902" y="987785"/>
            <a:ext cx="9797143" cy="4937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093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7630-9867-5A20-7035-8E79EC80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C5B3B95B-7219-A53E-91A9-170378365729}"/>
              </a:ext>
            </a:extLst>
          </p:cNvPr>
          <p:cNvSpPr txBox="1"/>
          <p:nvPr/>
        </p:nvSpPr>
        <p:spPr>
          <a:xfrm>
            <a:off x="125080" y="170938"/>
            <a:ext cx="2459499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</a:rPr>
              <a:t>Winners Food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804D6-5504-29E9-DADD-BC53CCF60E75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85B817D-C12E-3173-4F2A-DAED67704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28" y="1834809"/>
            <a:ext cx="5294989" cy="31883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DA4F066-CA21-8517-FD3A-583A0F373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035" y="1834809"/>
            <a:ext cx="4440970" cy="318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64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BCCC9-DF37-A6C5-74BE-FABA6081A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B5CE569B-763E-0A5E-1EB5-F3A29C7F676F}"/>
              </a:ext>
            </a:extLst>
          </p:cNvPr>
          <p:cNvSpPr txBox="1"/>
          <p:nvPr/>
        </p:nvSpPr>
        <p:spPr>
          <a:xfrm>
            <a:off x="125080" y="170938"/>
            <a:ext cx="2459499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</a:rPr>
              <a:t>STF(</a:t>
            </a:r>
            <a:r>
              <a:rPr lang="en-US" altLang="ko-KR" b="1" dirty="0" err="1">
                <a:latin typeface="맑은 고딕" panose="020B0503020000020004" pitchFamily="50" charset="-127"/>
              </a:rPr>
              <a:t>Jincheon</a:t>
            </a:r>
            <a:r>
              <a:rPr lang="en-US" altLang="ko-KR" b="1" dirty="0"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EF4D5-0845-8170-A887-BB8463CBE7AA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DBDA1B-04E5-4C5E-57CF-5AF6DE7CE7B4}"/>
              </a:ext>
            </a:extLst>
          </p:cNvPr>
          <p:cNvSpPr txBox="1"/>
          <p:nvPr/>
        </p:nvSpPr>
        <p:spPr>
          <a:xfrm>
            <a:off x="373227" y="2142367"/>
            <a:ext cx="2687217" cy="158312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4) Operate Cate(total 56 SKU)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Pork(Frozen) / 4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Pork(Frozen) / 20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Beef(Frozen) / 20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Seasoned meat(Chilled) / 12 SKU</a:t>
            </a:r>
          </a:p>
          <a:p>
            <a:pPr>
              <a:lnSpc>
                <a:spcPct val="150000"/>
              </a:lnSpc>
            </a:pP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DE3FA-2C7A-A9B3-C168-86C8F4D5E808}"/>
              </a:ext>
            </a:extLst>
          </p:cNvPr>
          <p:cNvSpPr txBox="1"/>
          <p:nvPr/>
        </p:nvSpPr>
        <p:spPr>
          <a:xfrm>
            <a:off x="373228" y="1150626"/>
            <a:ext cx="1511559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1) Business career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2024y ~ 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0C79C8-CEC7-51CE-B318-41A4264D2058}"/>
              </a:ext>
            </a:extLst>
          </p:cNvPr>
          <p:cNvSpPr txBox="1"/>
          <p:nvPr/>
        </p:nvSpPr>
        <p:spPr>
          <a:xfrm>
            <a:off x="3186410" y="1150626"/>
            <a:ext cx="2687217" cy="8213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2) 25y sales revenue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Packaged meat: 22 billion won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Seasoned meat: 8 billion won  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63C2D-6E07-A9DC-06BB-54FAB097AB1D}"/>
              </a:ext>
            </a:extLst>
          </p:cNvPr>
          <p:cNvSpPr txBox="1"/>
          <p:nvPr/>
        </p:nvSpPr>
        <p:spPr>
          <a:xfrm>
            <a:off x="6690051" y="1150625"/>
            <a:ext cx="3442994" cy="8213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3) 25y total GMV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31 billion won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 -  Code: STF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+ The KL Farms + The KL Food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D7BF0-F099-63FD-17CC-251E838CED35}"/>
              </a:ext>
            </a:extLst>
          </p:cNvPr>
          <p:cNvSpPr txBox="1"/>
          <p:nvPr/>
        </p:nvSpPr>
        <p:spPr>
          <a:xfrm>
            <a:off x="3186409" y="2112551"/>
            <a:ext cx="2687217" cy="8213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5) Other OEM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BaeMin</a:t>
            </a:r>
            <a:r>
              <a:rPr lang="en-US" altLang="ko-KR" sz="1100" dirty="0">
                <a:latin typeface="맑은 고딕" panose="020B0503020000020004" pitchFamily="50" charset="-127"/>
              </a:rPr>
              <a:t>(wonderful brothers)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</a:t>
            </a:r>
            <a:r>
              <a:rPr lang="en-US" altLang="ko-KR" sz="1100" dirty="0">
                <a:latin typeface="맑은 고딕" panose="020B0503020000020004" pitchFamily="50" charset="-127"/>
              </a:rPr>
              <a:t> Dongwon-</a:t>
            </a:r>
            <a:r>
              <a:rPr lang="en-US" altLang="ko-KR" sz="1100" dirty="0" err="1">
                <a:latin typeface="맑은 고딕" panose="020B0503020000020004" pitchFamily="50" charset="-127"/>
              </a:rPr>
              <a:t>Homefood</a:t>
            </a: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A65F9C-E4BC-8AC5-6A2D-97ABC92A7F88}"/>
              </a:ext>
            </a:extLst>
          </p:cNvPr>
          <p:cNvSpPr txBox="1"/>
          <p:nvPr/>
        </p:nvSpPr>
        <p:spPr>
          <a:xfrm>
            <a:off x="6690051" y="2031861"/>
            <a:ext cx="2687217" cy="165333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6) Diversity of Packaging Types 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  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Pouch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endParaRPr lang="en-US" altLang="ko-KR" sz="1100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/>
              <a:t>  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Top sealing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200" dirty="0"/>
              <a:t>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MAP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/>
              <a:t>☐ </a:t>
            </a:r>
            <a:r>
              <a:rPr lang="en-US" altLang="ko-KR" sz="1100" dirty="0"/>
              <a:t>Skin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/>
              <a:t>☐ </a:t>
            </a:r>
            <a:r>
              <a:rPr lang="en-US" altLang="ko-KR" sz="1100" dirty="0"/>
              <a:t>Multivac</a:t>
            </a: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5B58D-37DF-B92C-A3D5-7C35EEBCB77E}"/>
              </a:ext>
            </a:extLst>
          </p:cNvPr>
          <p:cNvSpPr txBox="1"/>
          <p:nvPr/>
        </p:nvSpPr>
        <p:spPr>
          <a:xfrm>
            <a:off x="373228" y="3745055"/>
            <a:ext cx="2687217" cy="158312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7) Capacity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10 t / day (220 t / month)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 - Seasoned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meat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2.5t, Pork/Beef 7t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Full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capa</a:t>
            </a:r>
            <a:r>
              <a:rPr lang="en-US" altLang="ko-KR" sz="1100" dirty="0">
                <a:latin typeface="맑은 고딕" panose="020B0503020000020004" pitchFamily="50" charset="-127"/>
              </a:rPr>
              <a:t> – 15 t /d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Spare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capa</a:t>
            </a:r>
            <a:r>
              <a:rPr lang="en-US" altLang="ko-KR" sz="1100" dirty="0">
                <a:latin typeface="맑은 고딕" panose="020B0503020000020004" pitchFamily="50" charset="-127"/>
              </a:rPr>
              <a:t> – 5 t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88036-24D8-A8F8-416A-6ECD0A64B0F5}"/>
              </a:ext>
            </a:extLst>
          </p:cNvPr>
          <p:cNvSpPr txBox="1"/>
          <p:nvPr/>
        </p:nvSpPr>
        <p:spPr>
          <a:xfrm>
            <a:off x="3186409" y="3768983"/>
            <a:ext cx="3318590" cy="183704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8) raw material standards(Fresh condition)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</a:t>
            </a:r>
            <a:r>
              <a:rPr lang="ko-KR" altLang="en-US" sz="1100" b="1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Avg. slaughter ~ FC :  33.3%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-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Pork(Frozen), 24.4/300d – 8.1% 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-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Pork(Frozen), 159.4/365d – 43.7%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-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Beef(Frozen), 175.2/365d – 48%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-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Seasoned meat(Chilled)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5B9C26F-9AC1-F6C9-5A07-98AABA89AB9A}"/>
              </a:ext>
            </a:extLst>
          </p:cNvPr>
          <p:cNvSpPr/>
          <p:nvPr/>
        </p:nvSpPr>
        <p:spPr>
          <a:xfrm>
            <a:off x="335902" y="987785"/>
            <a:ext cx="9797143" cy="4937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48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2B3A0-A5F2-8E45-3760-AFB260106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1EDDB2F-D871-275F-E350-1DC0AADCC20B}"/>
              </a:ext>
            </a:extLst>
          </p:cNvPr>
          <p:cNvSpPr txBox="1"/>
          <p:nvPr/>
        </p:nvSpPr>
        <p:spPr>
          <a:xfrm>
            <a:off x="125080" y="170938"/>
            <a:ext cx="2459499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</a:rPr>
              <a:t>STF(</a:t>
            </a:r>
            <a:r>
              <a:rPr lang="en-US" altLang="ko-KR" b="1" dirty="0" err="1">
                <a:latin typeface="맑은 고딕" panose="020B0503020000020004" pitchFamily="50" charset="-127"/>
              </a:rPr>
              <a:t>JinChoen</a:t>
            </a:r>
            <a:r>
              <a:rPr lang="en-US" altLang="ko-KR" b="1" dirty="0"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DCCD0-B10B-DF87-5861-C13AA00E8089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C9A6D0-ECD0-D0B3-A773-AA404C9DA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28" y="1337262"/>
            <a:ext cx="5806943" cy="28958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DBE2204-68AD-D7CE-425B-644DD15F4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487" y="1382985"/>
            <a:ext cx="2865368" cy="280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51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0B7F2-54BD-D13C-B12D-A30CCABDF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DE32C874-C789-0EE7-C1F8-9A8BF9DE8A87}"/>
              </a:ext>
            </a:extLst>
          </p:cNvPr>
          <p:cNvSpPr txBox="1"/>
          <p:nvPr/>
        </p:nvSpPr>
        <p:spPr>
          <a:xfrm>
            <a:off x="125080" y="170938"/>
            <a:ext cx="2459499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</a:rPr>
              <a:t>STF(Chungju)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3F2922-2752-4346-05DD-EF48BD0B04A7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B6C4BF-CF8A-B4C1-225B-F99BB4369A4D}"/>
              </a:ext>
            </a:extLst>
          </p:cNvPr>
          <p:cNvSpPr txBox="1"/>
          <p:nvPr/>
        </p:nvSpPr>
        <p:spPr>
          <a:xfrm>
            <a:off x="373228" y="2114549"/>
            <a:ext cx="2687217" cy="107529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4) Operate Cate(total 44 SKU)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Pork(Frozen) / 4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Pork(Frozen) / 20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Beef(Frozen) / 20 SKU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2B290F-DD5F-C1DD-A670-1B3237246437}"/>
              </a:ext>
            </a:extLst>
          </p:cNvPr>
          <p:cNvSpPr txBox="1"/>
          <p:nvPr/>
        </p:nvSpPr>
        <p:spPr>
          <a:xfrm>
            <a:off x="373228" y="1150626"/>
            <a:ext cx="1511559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1) Business career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2025y ~ 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84A76-B2BE-7E55-D9E0-1AC4BCE9D720}"/>
              </a:ext>
            </a:extLst>
          </p:cNvPr>
          <p:cNvSpPr txBox="1"/>
          <p:nvPr/>
        </p:nvSpPr>
        <p:spPr>
          <a:xfrm>
            <a:off x="3186409" y="1150626"/>
            <a:ext cx="2687217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2) 25y sales revenue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Packaged meat: 6 billion won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06126-51C4-E922-E292-5ADC86D325B0}"/>
              </a:ext>
            </a:extLst>
          </p:cNvPr>
          <p:cNvSpPr txBox="1"/>
          <p:nvPr/>
        </p:nvSpPr>
        <p:spPr>
          <a:xfrm>
            <a:off x="6690051" y="1150625"/>
            <a:ext cx="3442994" cy="8213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3) 25y total GMV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29 billion won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 -  Code: STF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+ The KL Farms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DDCC5-F879-AC20-5076-36C7EF0DCF64}"/>
              </a:ext>
            </a:extLst>
          </p:cNvPr>
          <p:cNvSpPr txBox="1"/>
          <p:nvPr/>
        </p:nvSpPr>
        <p:spPr>
          <a:xfrm>
            <a:off x="3247057" y="2114549"/>
            <a:ext cx="2687217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5) Other OEM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CPLB only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CE7FD-75B8-2884-D8FA-C8682E46B0D9}"/>
              </a:ext>
            </a:extLst>
          </p:cNvPr>
          <p:cNvSpPr txBox="1"/>
          <p:nvPr/>
        </p:nvSpPr>
        <p:spPr>
          <a:xfrm>
            <a:off x="6690051" y="2031861"/>
            <a:ext cx="2687217" cy="165333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6) Diversity of Packaging Types 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  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Pouch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endParaRPr lang="en-US" altLang="ko-KR" sz="1100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/>
              <a:t>  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Top sealing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200" dirty="0"/>
              <a:t>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MAP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/>
              <a:t>☐ </a:t>
            </a:r>
            <a:r>
              <a:rPr lang="en-US" altLang="ko-KR" sz="1100" dirty="0"/>
              <a:t>Skin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/>
              <a:t>☐ </a:t>
            </a:r>
            <a:r>
              <a:rPr lang="en-US" altLang="ko-KR" sz="1100" dirty="0"/>
              <a:t>Multivac</a:t>
            </a: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FAE5B-33AD-E170-0D00-099108878767}"/>
              </a:ext>
            </a:extLst>
          </p:cNvPr>
          <p:cNvSpPr txBox="1"/>
          <p:nvPr/>
        </p:nvSpPr>
        <p:spPr>
          <a:xfrm>
            <a:off x="373228" y="3745055"/>
            <a:ext cx="2687217" cy="158312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7) Capacity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4 t / day (88 t / month)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 - Pork/Beef 4t 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Full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capa</a:t>
            </a:r>
            <a:r>
              <a:rPr lang="en-US" altLang="ko-KR" sz="1100" dirty="0">
                <a:latin typeface="맑은 고딕" panose="020B0503020000020004" pitchFamily="50" charset="-127"/>
              </a:rPr>
              <a:t> – 10 t /d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Spare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capa</a:t>
            </a:r>
            <a:r>
              <a:rPr lang="en-US" altLang="ko-KR" sz="1100" dirty="0">
                <a:latin typeface="맑은 고딕" panose="020B0503020000020004" pitchFamily="50" charset="-127"/>
              </a:rPr>
              <a:t> – 6 t /d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06DEF-7240-3834-7811-0492AABC253E}"/>
              </a:ext>
            </a:extLst>
          </p:cNvPr>
          <p:cNvSpPr txBox="1"/>
          <p:nvPr/>
        </p:nvSpPr>
        <p:spPr>
          <a:xfrm>
            <a:off x="3186409" y="3685199"/>
            <a:ext cx="3318590" cy="209095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8) raw material standards(Fresh condition)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-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Pork(Frozen), 24.4/300d – 8.1% 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-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Pork(Frozen), 159.4/365d – 43.7%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-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Beef(Frozen), 175.2/365d – 48%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</a:t>
            </a:r>
            <a:r>
              <a:rPr lang="ko-KR" altLang="en-US" sz="1100" b="1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Avg. slaughter ~ FC :  33.3%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719B41-6EE7-CE85-F468-D90A65B13227}"/>
              </a:ext>
            </a:extLst>
          </p:cNvPr>
          <p:cNvSpPr/>
          <p:nvPr/>
        </p:nvSpPr>
        <p:spPr>
          <a:xfrm>
            <a:off x="335902" y="987785"/>
            <a:ext cx="9797143" cy="4937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756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3DBEE-1200-AC3E-0AD1-8C2E6F738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3E1BA892-5B4A-FA2C-1078-106D0F2C17BA}"/>
              </a:ext>
            </a:extLst>
          </p:cNvPr>
          <p:cNvSpPr txBox="1"/>
          <p:nvPr/>
        </p:nvSpPr>
        <p:spPr>
          <a:xfrm>
            <a:off x="125080" y="170938"/>
            <a:ext cx="2459499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</a:rPr>
              <a:t>STF(Chungju)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DF5CD-83DD-2F15-3727-F97BD3A1A9B2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A3F7DC-4553-A55C-2170-269A25417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28" y="1255293"/>
            <a:ext cx="5570703" cy="32464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2CCC27B-5428-E249-2366-0C0B07102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5293"/>
            <a:ext cx="5016759" cy="324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24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09C7-29BE-956A-B551-DE6B1CB4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71FB5261-F3C2-18EE-7F20-97C147F6E79D}"/>
              </a:ext>
            </a:extLst>
          </p:cNvPr>
          <p:cNvSpPr/>
          <p:nvPr/>
        </p:nvSpPr>
        <p:spPr>
          <a:xfrm>
            <a:off x="5857561" y="429523"/>
            <a:ext cx="4264339" cy="5648727"/>
          </a:xfrm>
          <a:prstGeom prst="rightArrow">
            <a:avLst>
              <a:gd name="adj1" fmla="val 52248"/>
              <a:gd name="adj2" fmla="val 56552"/>
            </a:avLst>
          </a:prstGeom>
          <a:solidFill>
            <a:schemeClr val="tx2">
              <a:lumMod val="10000"/>
              <a:lumOff val="9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B2D377-CAF7-E592-8817-355E8ACDA178}"/>
              </a:ext>
            </a:extLst>
          </p:cNvPr>
          <p:cNvSpPr/>
          <p:nvPr/>
        </p:nvSpPr>
        <p:spPr>
          <a:xfrm>
            <a:off x="1676573" y="931302"/>
            <a:ext cx="3076478" cy="64235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Vendor Code</a:t>
            </a:r>
          </a:p>
          <a:p>
            <a:pPr algn="ctr"/>
            <a:r>
              <a:rPr lang="en-US" altLang="ko-KR" sz="1050" b="1" dirty="0">
                <a:solidFill>
                  <a:schemeClr val="tx1"/>
                </a:solidFill>
              </a:rPr>
              <a:t>(Lee </a:t>
            </a:r>
            <a:r>
              <a:rPr lang="en-US" altLang="ko-KR" sz="1050" b="1" dirty="0" err="1">
                <a:solidFill>
                  <a:schemeClr val="tx1"/>
                </a:solidFill>
              </a:rPr>
              <a:t>KyoLyeon</a:t>
            </a:r>
            <a:r>
              <a:rPr lang="en-US" altLang="ko-KR" sz="1050" b="1" dirty="0">
                <a:solidFill>
                  <a:schemeClr val="tx1"/>
                </a:solidFill>
              </a:rPr>
              <a:t>)</a:t>
            </a:r>
            <a:endParaRPr lang="ko-KR" altLang="en-US" sz="105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4391AE-48F8-C275-F1FE-5B5252F630B6}"/>
              </a:ext>
            </a:extLst>
          </p:cNvPr>
          <p:cNvSpPr/>
          <p:nvPr/>
        </p:nvSpPr>
        <p:spPr>
          <a:xfrm>
            <a:off x="2270261" y="5753443"/>
            <a:ext cx="1800000" cy="41486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Seoul-Well Food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9A83CB-1068-27CF-CBA2-7FB6B836B5E6}"/>
              </a:ext>
            </a:extLst>
          </p:cNvPr>
          <p:cNvSpPr/>
          <p:nvPr/>
        </p:nvSpPr>
        <p:spPr>
          <a:xfrm>
            <a:off x="2270261" y="3172727"/>
            <a:ext cx="1800000" cy="4148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STF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2AAB167-2324-FB64-5E62-77E80665ADDF}"/>
              </a:ext>
            </a:extLst>
          </p:cNvPr>
          <p:cNvSpPr/>
          <p:nvPr/>
        </p:nvSpPr>
        <p:spPr>
          <a:xfrm>
            <a:off x="2270261" y="3815053"/>
            <a:ext cx="1800000" cy="414868"/>
          </a:xfrm>
          <a:prstGeom prst="rect">
            <a:avLst/>
          </a:prstGeom>
          <a:solidFill>
            <a:srgbClr val="FFFF99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The KL Farms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68E9F13-9370-ECB3-2655-D97C0A17887B}"/>
              </a:ext>
            </a:extLst>
          </p:cNvPr>
          <p:cNvSpPr/>
          <p:nvPr/>
        </p:nvSpPr>
        <p:spPr>
          <a:xfrm>
            <a:off x="2270261" y="1914429"/>
            <a:ext cx="1800000" cy="414867"/>
          </a:xfrm>
          <a:prstGeom prst="rect">
            <a:avLst/>
          </a:prstGeom>
          <a:solidFill>
            <a:srgbClr val="FFFF99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Winners Food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40AB99D-7A9D-F319-2E8E-3EF33B1CEF85}"/>
              </a:ext>
            </a:extLst>
          </p:cNvPr>
          <p:cNvSpPr/>
          <p:nvPr/>
        </p:nvSpPr>
        <p:spPr>
          <a:xfrm>
            <a:off x="2270261" y="2556652"/>
            <a:ext cx="1800000" cy="4148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Winners Food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-The Fresh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08E4EFB-69E0-F3A2-63D4-60567DDDE069}"/>
              </a:ext>
            </a:extLst>
          </p:cNvPr>
          <p:cNvSpPr/>
          <p:nvPr/>
        </p:nvSpPr>
        <p:spPr>
          <a:xfrm>
            <a:off x="2270261" y="4487082"/>
            <a:ext cx="1800000" cy="4148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The KL Food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525AAB-1800-19C8-AA03-1401C987BF51}"/>
              </a:ext>
            </a:extLst>
          </p:cNvPr>
          <p:cNvSpPr txBox="1"/>
          <p:nvPr/>
        </p:nvSpPr>
        <p:spPr>
          <a:xfrm>
            <a:off x="646660" y="5907821"/>
            <a:ext cx="1612906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chilled meat supply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17992F6C-F2EA-9E88-8A50-47EBD7FD5034}"/>
              </a:ext>
            </a:extLst>
          </p:cNvPr>
          <p:cNvCxnSpPr>
            <a:cxnSpLocks/>
            <a:stCxn id="7" idx="1"/>
            <a:endCxn id="52" idx="1"/>
          </p:cNvCxnSpPr>
          <p:nvPr/>
        </p:nvCxnSpPr>
        <p:spPr>
          <a:xfrm rot="10800000">
            <a:off x="2270261" y="2121863"/>
            <a:ext cx="12700" cy="3839014"/>
          </a:xfrm>
          <a:prstGeom prst="bentConnector3">
            <a:avLst>
              <a:gd name="adj1" fmla="val 1036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FDECF7-2CF9-57E8-435A-56B318C9E36C}"/>
              </a:ext>
            </a:extLst>
          </p:cNvPr>
          <p:cNvSpPr/>
          <p:nvPr/>
        </p:nvSpPr>
        <p:spPr>
          <a:xfrm>
            <a:off x="1676574" y="1690652"/>
            <a:ext cx="3076478" cy="342669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06EF18-86C2-3F69-9A66-10D88AD1B017}"/>
              </a:ext>
            </a:extLst>
          </p:cNvPr>
          <p:cNvSpPr/>
          <p:nvPr/>
        </p:nvSpPr>
        <p:spPr>
          <a:xfrm>
            <a:off x="6452429" y="2088151"/>
            <a:ext cx="1800000" cy="4148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Winners Food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004AF5-7EED-AC57-D5A7-B820443DF2A3}"/>
              </a:ext>
            </a:extLst>
          </p:cNvPr>
          <p:cNvSpPr/>
          <p:nvPr/>
        </p:nvSpPr>
        <p:spPr>
          <a:xfrm>
            <a:off x="6463124" y="3107590"/>
            <a:ext cx="1799180" cy="4148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STF(Chungju)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C17D9C-62FE-9065-3245-BB9ACFF6BF0E}"/>
              </a:ext>
            </a:extLst>
          </p:cNvPr>
          <p:cNvSpPr/>
          <p:nvPr/>
        </p:nvSpPr>
        <p:spPr>
          <a:xfrm>
            <a:off x="6462304" y="4127030"/>
            <a:ext cx="1800000" cy="4148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STF(</a:t>
            </a:r>
            <a:r>
              <a:rPr lang="en-US" altLang="ko-KR" b="1" dirty="0" err="1">
                <a:solidFill>
                  <a:schemeClr val="tx1"/>
                </a:solidFill>
              </a:rPr>
              <a:t>Jincheon</a:t>
            </a:r>
            <a:r>
              <a:rPr lang="en-US" altLang="ko-KR" b="1" dirty="0">
                <a:solidFill>
                  <a:schemeClr val="tx1"/>
                </a:solidFill>
              </a:rPr>
              <a:t>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F38664E-EDD5-99FF-6422-A8C7D359BD9D}"/>
              </a:ext>
            </a:extLst>
          </p:cNvPr>
          <p:cNvCxnSpPr>
            <a:stCxn id="52" idx="3"/>
            <a:endCxn id="18" idx="1"/>
          </p:cNvCxnSpPr>
          <p:nvPr/>
        </p:nvCxnSpPr>
        <p:spPr>
          <a:xfrm>
            <a:off x="4070261" y="2121863"/>
            <a:ext cx="2382168" cy="1737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2C48EB3-E05D-D0CD-F961-6983016A230C}"/>
              </a:ext>
            </a:extLst>
          </p:cNvPr>
          <p:cNvCxnSpPr>
            <a:cxnSpLocks/>
            <a:stCxn id="54" idx="3"/>
            <a:endCxn id="18" idx="1"/>
          </p:cNvCxnSpPr>
          <p:nvPr/>
        </p:nvCxnSpPr>
        <p:spPr>
          <a:xfrm flipV="1">
            <a:off x="4070261" y="2295585"/>
            <a:ext cx="2382168" cy="4685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86B8838-2444-8475-ED7C-3A6BA8F021F3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 flipV="1">
            <a:off x="4070261" y="3315024"/>
            <a:ext cx="2392863" cy="651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A630A35-948E-046C-D86D-83787AE91E9F}"/>
              </a:ext>
            </a:extLst>
          </p:cNvPr>
          <p:cNvCxnSpPr>
            <a:cxnSpLocks/>
            <a:stCxn id="16" idx="3"/>
            <a:endCxn id="24" idx="1"/>
          </p:cNvCxnSpPr>
          <p:nvPr/>
        </p:nvCxnSpPr>
        <p:spPr>
          <a:xfrm>
            <a:off x="4070261" y="3380161"/>
            <a:ext cx="2392043" cy="9543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876B614-B0D9-9FA0-83F3-882375B38CC8}"/>
              </a:ext>
            </a:extLst>
          </p:cNvPr>
          <p:cNvCxnSpPr>
            <a:cxnSpLocks/>
            <a:stCxn id="46" idx="3"/>
            <a:endCxn id="22" idx="1"/>
          </p:cNvCxnSpPr>
          <p:nvPr/>
        </p:nvCxnSpPr>
        <p:spPr>
          <a:xfrm flipV="1">
            <a:off x="4070261" y="3315024"/>
            <a:ext cx="2392863" cy="707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22EE26D-907E-8A48-6531-2DB1F0BF32ED}"/>
              </a:ext>
            </a:extLst>
          </p:cNvPr>
          <p:cNvCxnSpPr>
            <a:cxnSpLocks/>
            <a:stCxn id="46" idx="3"/>
            <a:endCxn id="24" idx="1"/>
          </p:cNvCxnSpPr>
          <p:nvPr/>
        </p:nvCxnSpPr>
        <p:spPr>
          <a:xfrm>
            <a:off x="4070261" y="4022487"/>
            <a:ext cx="2392043" cy="3119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997A0B4-3D60-7E58-0D1B-B74DCFBAEC9E}"/>
              </a:ext>
            </a:extLst>
          </p:cNvPr>
          <p:cNvCxnSpPr>
            <a:cxnSpLocks/>
            <a:stCxn id="90" idx="3"/>
            <a:endCxn id="22" idx="1"/>
          </p:cNvCxnSpPr>
          <p:nvPr/>
        </p:nvCxnSpPr>
        <p:spPr>
          <a:xfrm flipV="1">
            <a:off x="4070261" y="3315024"/>
            <a:ext cx="2392863" cy="13794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07B7C3F3-FF67-4845-970C-F53FA63EBDD6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 flipV="1">
            <a:off x="4070261" y="2295585"/>
            <a:ext cx="2382168" cy="36652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AAFFF9D-E776-DA56-B187-079BE96347E8}"/>
              </a:ext>
            </a:extLst>
          </p:cNvPr>
          <p:cNvSpPr/>
          <p:nvPr/>
        </p:nvSpPr>
        <p:spPr>
          <a:xfrm>
            <a:off x="9019672" y="2692722"/>
            <a:ext cx="2111748" cy="1122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500" b="1" dirty="0">
                <a:solidFill>
                  <a:schemeClr val="tx1"/>
                </a:solidFill>
              </a:rPr>
              <a:t>FC</a:t>
            </a:r>
            <a:endParaRPr lang="ko-KR" altLang="en-US" sz="6600" b="1" dirty="0">
              <a:solidFill>
                <a:schemeClr val="tx1"/>
              </a:solidFill>
            </a:endParaRPr>
          </a:p>
        </p:txBody>
      </p: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5DE21D78-1578-3BBE-C0E9-F3A3ED021440}"/>
              </a:ext>
            </a:extLst>
          </p:cNvPr>
          <p:cNvCxnSpPr>
            <a:cxnSpLocks/>
            <a:stCxn id="7" idx="1"/>
            <a:endCxn id="54" idx="1"/>
          </p:cNvCxnSpPr>
          <p:nvPr/>
        </p:nvCxnSpPr>
        <p:spPr>
          <a:xfrm rot="10800000">
            <a:off x="2270261" y="2764087"/>
            <a:ext cx="12700" cy="3196791"/>
          </a:xfrm>
          <a:prstGeom prst="bentConnector3">
            <a:avLst>
              <a:gd name="adj1" fmla="val 7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293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1F2FB-8892-ABC8-4BAB-64500AA85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F04B456-0803-9A0E-8FF0-D639A31DF96B}"/>
              </a:ext>
            </a:extLst>
          </p:cNvPr>
          <p:cNvSpPr txBox="1"/>
          <p:nvPr/>
        </p:nvSpPr>
        <p:spPr>
          <a:xfrm>
            <a:off x="125080" y="170938"/>
            <a:ext cx="3653818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</a:rPr>
              <a:t>Dongwon </a:t>
            </a:r>
            <a:r>
              <a:rPr lang="en-US" altLang="ko-KR" b="1" dirty="0" err="1">
                <a:latin typeface="맑은 고딕" panose="020B0503020000020004" pitchFamily="50" charset="-127"/>
              </a:rPr>
              <a:t>HomeFood</a:t>
            </a:r>
            <a:endParaRPr lang="en-US" altLang="ko-KR" b="1" dirty="0"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5796D-4DD8-7277-A848-7933F40AE755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27E02D-3C15-80B8-B012-1DDDE1E9FC7E}"/>
              </a:ext>
            </a:extLst>
          </p:cNvPr>
          <p:cNvSpPr txBox="1"/>
          <p:nvPr/>
        </p:nvSpPr>
        <p:spPr>
          <a:xfrm>
            <a:off x="373228" y="2241506"/>
            <a:ext cx="2687217" cy="8213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4) Operate Cate(total 18 SKU)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Beef(Chilled) / 16 SKU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Pork(Frozen) / 2 SKU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A9BE7-71CE-7C5E-B266-9CCDBD0BFF30}"/>
              </a:ext>
            </a:extLst>
          </p:cNvPr>
          <p:cNvSpPr txBox="1"/>
          <p:nvPr/>
        </p:nvSpPr>
        <p:spPr>
          <a:xfrm>
            <a:off x="373228" y="1150626"/>
            <a:ext cx="1511559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1) Business career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2021y ~ 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F9C312-72F4-1434-8DF6-7F1A138ADC03}"/>
              </a:ext>
            </a:extLst>
          </p:cNvPr>
          <p:cNvSpPr txBox="1"/>
          <p:nvPr/>
        </p:nvSpPr>
        <p:spPr>
          <a:xfrm>
            <a:off x="6690051" y="1150625"/>
            <a:ext cx="3442994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3) 25y total GMV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</a:t>
            </a:r>
            <a:r>
              <a:rPr lang="en-US" altLang="ko-KR" sz="1100" dirty="0">
                <a:latin typeface="맑은 고딕" panose="020B0503020000020004" pitchFamily="50" charset="-127"/>
              </a:rPr>
              <a:t> 14 billion won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502B9-8509-C58D-0D42-FAC75FF7E416}"/>
              </a:ext>
            </a:extLst>
          </p:cNvPr>
          <p:cNvSpPr txBox="1"/>
          <p:nvPr/>
        </p:nvSpPr>
        <p:spPr>
          <a:xfrm>
            <a:off x="3247057" y="2114549"/>
            <a:ext cx="2687217" cy="5674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5) Other OEM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CPLB only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293AC7-98F3-05EC-4A9B-8E1AA5D2EBEB}"/>
              </a:ext>
            </a:extLst>
          </p:cNvPr>
          <p:cNvSpPr txBox="1"/>
          <p:nvPr/>
        </p:nvSpPr>
        <p:spPr>
          <a:xfrm>
            <a:off x="6690051" y="2031861"/>
            <a:ext cx="2687217" cy="165333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6) Diversity of Packaging Types 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  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Pouch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endParaRPr lang="en-US" altLang="ko-KR" sz="1100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/>
              <a:t>  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Top sealing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200" dirty="0"/>
              <a:t>☑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MAP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/>
              <a:t>☑ </a:t>
            </a:r>
            <a:r>
              <a:rPr lang="en-US" altLang="ko-KR" sz="1100" dirty="0"/>
              <a:t>Skin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/>
              <a:t>☑ </a:t>
            </a:r>
            <a:r>
              <a:rPr lang="en-US" altLang="ko-KR" sz="1100" dirty="0"/>
              <a:t>Multivac</a:t>
            </a: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B0AE3D-5486-8317-C7D3-829325A0BEFC}"/>
              </a:ext>
            </a:extLst>
          </p:cNvPr>
          <p:cNvSpPr txBox="1"/>
          <p:nvPr/>
        </p:nvSpPr>
        <p:spPr>
          <a:xfrm>
            <a:off x="373228" y="3745055"/>
            <a:ext cx="2687217" cy="158312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7) Capacity 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10 t / day (220 t / month)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 - Pork/Beef 10t 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Full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capa</a:t>
            </a:r>
            <a:r>
              <a:rPr lang="en-US" altLang="ko-KR" sz="1100" dirty="0">
                <a:latin typeface="맑은 고딕" panose="020B0503020000020004" pitchFamily="50" charset="-127"/>
              </a:rPr>
              <a:t> – 20 t /d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Spare </a:t>
            </a:r>
            <a:r>
              <a:rPr lang="en-US" altLang="ko-KR" sz="1100" dirty="0" err="1">
                <a:latin typeface="맑은 고딕" panose="020B0503020000020004" pitchFamily="50" charset="-127"/>
              </a:rPr>
              <a:t>capa</a:t>
            </a:r>
            <a:r>
              <a:rPr lang="en-US" altLang="ko-KR" sz="1100" dirty="0">
                <a:latin typeface="맑은 고딕" panose="020B0503020000020004" pitchFamily="50" charset="-127"/>
              </a:rPr>
              <a:t> – 10 t /d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A09283-BB11-1349-8E0B-4E49CF3E0340}"/>
              </a:ext>
            </a:extLst>
          </p:cNvPr>
          <p:cNvSpPr txBox="1"/>
          <p:nvPr/>
        </p:nvSpPr>
        <p:spPr>
          <a:xfrm>
            <a:off x="3186410" y="3745055"/>
            <a:ext cx="3318590" cy="107529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8) raw material standards(Fresh condition)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Beef(Chilled), 44.5/58d – 76.7%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Pork(Frozen) 219.5/365d – 60.1%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-</a:t>
            </a:r>
            <a:r>
              <a:rPr lang="ko-KR" altLang="en-US" sz="1100" b="1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Avg. slaughter ~ FC :  68.4%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77AE4A-D77F-2DE0-AFB0-AFEE6B87C0C1}"/>
              </a:ext>
            </a:extLst>
          </p:cNvPr>
          <p:cNvSpPr/>
          <p:nvPr/>
        </p:nvSpPr>
        <p:spPr>
          <a:xfrm>
            <a:off x="335902" y="987785"/>
            <a:ext cx="9797143" cy="4937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85742-E465-8E66-9074-B8B648653A1D}"/>
              </a:ext>
            </a:extLst>
          </p:cNvPr>
          <p:cNvSpPr txBox="1"/>
          <p:nvPr/>
        </p:nvSpPr>
        <p:spPr>
          <a:xfrm>
            <a:off x="6752253" y="3745055"/>
            <a:ext cx="3318590" cy="107529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9) raw material supply control</a:t>
            </a: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 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√ 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Importer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- Direct import : 70 %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- Market purchase</a:t>
            </a:r>
            <a:r>
              <a:rPr lang="ko-KR" altLang="en-US" sz="1100" dirty="0">
                <a:latin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</a:rPr>
              <a:t>: 30 %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CB281F-6C1F-CBB2-2E25-BEC0891AE6A5}"/>
              </a:ext>
            </a:extLst>
          </p:cNvPr>
          <p:cNvSpPr txBox="1"/>
          <p:nvPr/>
        </p:nvSpPr>
        <p:spPr>
          <a:xfrm>
            <a:off x="3186410" y="1150626"/>
            <a:ext cx="2687217" cy="8213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2) 25y sales revenue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Packaged meat: 41 billion won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anose="020B0503020000020004" pitchFamily="50" charset="-127"/>
              </a:rPr>
              <a:t>  </a:t>
            </a: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Seasoned meat: 1 billion won  </a:t>
            </a:r>
            <a:endParaRPr lang="en-US" altLang="ko-KR" sz="1100" b="1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4157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491F-1AD1-AB24-140C-5CE5462C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8A90E8CE-02D2-C828-1AF8-7A04422C3EAF}"/>
              </a:ext>
            </a:extLst>
          </p:cNvPr>
          <p:cNvSpPr txBox="1"/>
          <p:nvPr/>
        </p:nvSpPr>
        <p:spPr>
          <a:xfrm>
            <a:off x="125080" y="170938"/>
            <a:ext cx="2459499" cy="4542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latin typeface="맑은 고딕" panose="020B0503020000020004" pitchFamily="50" charset="-127"/>
              </a:rPr>
              <a:t>Donwon</a:t>
            </a:r>
            <a:r>
              <a:rPr lang="en-US" altLang="ko-KR" b="1" dirty="0">
                <a:latin typeface="맑은 고딕" panose="020B0503020000020004" pitchFamily="50" charset="-127"/>
              </a:rPr>
              <a:t> </a:t>
            </a:r>
            <a:r>
              <a:rPr lang="en-US" altLang="ko-KR" b="1" dirty="0" err="1">
                <a:latin typeface="맑은 고딕" panose="020B0503020000020004" pitchFamily="50" charset="-127"/>
              </a:rPr>
              <a:t>HomeFood</a:t>
            </a:r>
            <a:endParaRPr lang="en-US" altLang="ko-KR" b="1" dirty="0"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5C176-5DC7-73E2-2094-C1DAA0A9DBB9}"/>
              </a:ext>
            </a:extLst>
          </p:cNvPr>
          <p:cNvSpPr txBox="1"/>
          <p:nvPr/>
        </p:nvSpPr>
        <p:spPr>
          <a:xfrm>
            <a:off x="373228" y="674238"/>
            <a:ext cx="2459499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Supplier info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654A65D-17D2-07DD-BA77-AD2EB68BF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80" y="1036793"/>
            <a:ext cx="3769953" cy="25928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D03FA68-15C2-1452-E82D-6DA61C4B1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549" y="1036793"/>
            <a:ext cx="3294133" cy="258383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1773AC3-3652-5D35-A7DD-85976EEEA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338" y="1036793"/>
            <a:ext cx="2499026" cy="257984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70AB737-A17C-60C5-D98F-602DCD4885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866" y="3837237"/>
            <a:ext cx="4627820" cy="257984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1134AF7-69E6-B5F0-192F-6D1B04397A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8773" y="3837237"/>
            <a:ext cx="2579842" cy="257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08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459FD-72F4-52D5-BB05-DD7CE9EF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91DD5C2-5397-C67C-44A6-B404F08C331F}"/>
              </a:ext>
            </a:extLst>
          </p:cNvPr>
          <p:cNvSpPr/>
          <p:nvPr/>
        </p:nvSpPr>
        <p:spPr>
          <a:xfrm>
            <a:off x="1126067" y="944180"/>
            <a:ext cx="8212666" cy="4148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Lee </a:t>
            </a:r>
            <a:r>
              <a:rPr lang="en-US" altLang="ko-KR" b="1" dirty="0" err="1">
                <a:solidFill>
                  <a:schemeClr val="tx1"/>
                </a:solidFill>
              </a:rPr>
              <a:t>KyoLyeon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981E64-76DE-4725-5A80-AE08947CA713}"/>
              </a:ext>
            </a:extLst>
          </p:cNvPr>
          <p:cNvSpPr/>
          <p:nvPr/>
        </p:nvSpPr>
        <p:spPr>
          <a:xfrm>
            <a:off x="10282935" y="1803826"/>
            <a:ext cx="1800000" cy="41486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Seoul-Well Food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154B94-70B5-9E36-1FBA-F2D95803091C}"/>
              </a:ext>
            </a:extLst>
          </p:cNvPr>
          <p:cNvSpPr/>
          <p:nvPr/>
        </p:nvSpPr>
        <p:spPr>
          <a:xfrm>
            <a:off x="10331571" y="3710322"/>
            <a:ext cx="1800000" cy="4148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Winners Food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90C32C2-C501-4F0F-9B6A-CB7D0A1C4502}"/>
              </a:ext>
            </a:extLst>
          </p:cNvPr>
          <p:cNvGrpSpPr/>
          <p:nvPr/>
        </p:nvGrpSpPr>
        <p:grpSpPr>
          <a:xfrm>
            <a:off x="8635460" y="58368"/>
            <a:ext cx="3501955" cy="414867"/>
            <a:chOff x="5596828" y="3221566"/>
            <a:chExt cx="3501955" cy="414867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CDC4B17-2AE3-E98B-C52C-B673F6C7BDBA}"/>
                </a:ext>
              </a:extLst>
            </p:cNvPr>
            <p:cNvSpPr/>
            <p:nvPr/>
          </p:nvSpPr>
          <p:spPr>
            <a:xfrm>
              <a:off x="5596828" y="3221566"/>
              <a:ext cx="1744314" cy="4148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Vendor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F147678-00D0-4721-DDB6-B2FD4C88A343}"/>
                </a:ext>
              </a:extLst>
            </p:cNvPr>
            <p:cNvSpPr/>
            <p:nvPr/>
          </p:nvSpPr>
          <p:spPr>
            <a:xfrm>
              <a:off x="7354469" y="3221566"/>
              <a:ext cx="1744314" cy="4148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Manufacturing company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2B3834-18AC-8F8B-FF25-66FC90877FC4}"/>
              </a:ext>
            </a:extLst>
          </p:cNvPr>
          <p:cNvSpPr/>
          <p:nvPr/>
        </p:nvSpPr>
        <p:spPr>
          <a:xfrm>
            <a:off x="4189049" y="1805068"/>
            <a:ext cx="1800000" cy="4148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STF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B1C3A74-7C6A-580D-F09F-C57CED442F93}"/>
              </a:ext>
            </a:extLst>
          </p:cNvPr>
          <p:cNvSpPr/>
          <p:nvPr/>
        </p:nvSpPr>
        <p:spPr>
          <a:xfrm>
            <a:off x="6891146" y="58368"/>
            <a:ext cx="1744314" cy="4148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Code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4D2783-E49C-043B-0A54-52AF36655968}"/>
              </a:ext>
            </a:extLst>
          </p:cNvPr>
          <p:cNvSpPr txBox="1"/>
          <p:nvPr/>
        </p:nvSpPr>
        <p:spPr>
          <a:xfrm>
            <a:off x="2180812" y="4595421"/>
            <a:ext cx="1800000" cy="82137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Domestic Pork(</a:t>
            </a: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Chilled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Pork(</a:t>
            </a: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</a:rPr>
              <a:t>Chilled</a:t>
            </a:r>
            <a:r>
              <a:rPr lang="en-US" altLang="ko-KR" sz="1100" dirty="0">
                <a:latin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</a:t>
            </a: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</a:rPr>
              <a:t>Chilled</a:t>
            </a:r>
            <a:r>
              <a:rPr lang="en-US" altLang="ko-KR" sz="1100" dirty="0"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C7741FB-2308-9AFA-D5AF-2AD807B9F7ED}"/>
              </a:ext>
            </a:extLst>
          </p:cNvPr>
          <p:cNvSpPr/>
          <p:nvPr/>
        </p:nvSpPr>
        <p:spPr>
          <a:xfrm>
            <a:off x="6220344" y="1808794"/>
            <a:ext cx="1800000" cy="414868"/>
          </a:xfrm>
          <a:prstGeom prst="rect">
            <a:avLst/>
          </a:prstGeom>
          <a:solidFill>
            <a:srgbClr val="FFFF99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The KL Farms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E3C0733-D948-19A2-23B8-4AF4128AA71E}"/>
              </a:ext>
            </a:extLst>
          </p:cNvPr>
          <p:cNvSpPr/>
          <p:nvPr/>
        </p:nvSpPr>
        <p:spPr>
          <a:xfrm>
            <a:off x="126459" y="1810038"/>
            <a:ext cx="1800000" cy="414867"/>
          </a:xfrm>
          <a:prstGeom prst="rect">
            <a:avLst/>
          </a:prstGeom>
          <a:solidFill>
            <a:srgbClr val="FFFF99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Winners Food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A3B7510-7418-607A-1A84-AA1A0406BC01}"/>
              </a:ext>
            </a:extLst>
          </p:cNvPr>
          <p:cNvSpPr/>
          <p:nvPr/>
        </p:nvSpPr>
        <p:spPr>
          <a:xfrm>
            <a:off x="2157754" y="1806310"/>
            <a:ext cx="1800000" cy="4148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Winners Food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-The Fresh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ECAABB-0B79-A990-D5EA-3D4BADC74E2E}"/>
              </a:ext>
            </a:extLst>
          </p:cNvPr>
          <p:cNvSpPr txBox="1"/>
          <p:nvPr/>
        </p:nvSpPr>
        <p:spPr>
          <a:xfrm>
            <a:off x="4255015" y="4595420"/>
            <a:ext cx="1800000" cy="567463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Pork(Frozen)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Beef(Frozen)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CAC8F6-24BF-85EB-BE7F-37BFD0CE045D}"/>
              </a:ext>
            </a:extLst>
          </p:cNvPr>
          <p:cNvSpPr txBox="1"/>
          <p:nvPr/>
        </p:nvSpPr>
        <p:spPr>
          <a:xfrm>
            <a:off x="6220344" y="4595420"/>
            <a:ext cx="1800000" cy="82137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Domestic Pork(Frozen)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Pork(Frozen)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Beef(Frozen)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C2F4091A-A3AB-285D-28BC-0A5EABCCC3B0}"/>
              </a:ext>
            </a:extLst>
          </p:cNvPr>
          <p:cNvSpPr/>
          <p:nvPr/>
        </p:nvSpPr>
        <p:spPr>
          <a:xfrm>
            <a:off x="8251639" y="1807552"/>
            <a:ext cx="1800000" cy="4148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The KL Food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BD903E7-1A86-D1A0-286D-DD65A88A3F0A}"/>
              </a:ext>
            </a:extLst>
          </p:cNvPr>
          <p:cNvSpPr/>
          <p:nvPr/>
        </p:nvSpPr>
        <p:spPr>
          <a:xfrm>
            <a:off x="123394" y="3704110"/>
            <a:ext cx="3834360" cy="4148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Winners Food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7F0EDB-D255-5CA8-5800-60A891417B3F}"/>
              </a:ext>
            </a:extLst>
          </p:cNvPr>
          <p:cNvSpPr txBox="1"/>
          <p:nvPr/>
        </p:nvSpPr>
        <p:spPr>
          <a:xfrm>
            <a:off x="106609" y="4595421"/>
            <a:ext cx="1800000" cy="567463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Beef(Frozen)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Seasoned meat(Chilled)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769488-B994-0DD9-BD27-FEBB8A13EBCE}"/>
              </a:ext>
            </a:extLst>
          </p:cNvPr>
          <p:cNvSpPr/>
          <p:nvPr/>
        </p:nvSpPr>
        <p:spPr>
          <a:xfrm>
            <a:off x="4226180" y="3704111"/>
            <a:ext cx="3794164" cy="4148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STF(Chungju, </a:t>
            </a:r>
            <a:r>
              <a:rPr lang="en-US" altLang="ko-KR" b="1" dirty="0" err="1">
                <a:solidFill>
                  <a:schemeClr val="tx1"/>
                </a:solidFill>
              </a:rPr>
              <a:t>Jincheon</a:t>
            </a:r>
            <a:r>
              <a:rPr lang="en-US" altLang="ko-KR" b="1" dirty="0">
                <a:solidFill>
                  <a:schemeClr val="tx1"/>
                </a:solidFill>
              </a:rPr>
              <a:t>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AD9F091-7A83-424E-22C6-C9CB3ACA1F78}"/>
              </a:ext>
            </a:extLst>
          </p:cNvPr>
          <p:cNvSpPr/>
          <p:nvPr/>
        </p:nvSpPr>
        <p:spPr>
          <a:xfrm>
            <a:off x="8251639" y="3704110"/>
            <a:ext cx="1800000" cy="4148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STF(</a:t>
            </a:r>
            <a:r>
              <a:rPr lang="en-US" altLang="ko-KR" b="1" dirty="0" err="1">
                <a:solidFill>
                  <a:schemeClr val="tx1"/>
                </a:solidFill>
              </a:rPr>
              <a:t>Jincheon</a:t>
            </a:r>
            <a:r>
              <a:rPr lang="en-US" altLang="ko-KR" b="1" dirty="0">
                <a:solidFill>
                  <a:schemeClr val="tx1"/>
                </a:solidFill>
              </a:rPr>
              <a:t>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BC50125-E780-214F-F3BC-7F975B47E2EA}"/>
              </a:ext>
            </a:extLst>
          </p:cNvPr>
          <p:cNvSpPr/>
          <p:nvPr/>
        </p:nvSpPr>
        <p:spPr>
          <a:xfrm>
            <a:off x="6220344" y="2708951"/>
            <a:ext cx="1800000" cy="4148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The KL Farms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444B39F-CEED-BA71-89F5-AEF7624FBF98}"/>
              </a:ext>
            </a:extLst>
          </p:cNvPr>
          <p:cNvSpPr/>
          <p:nvPr/>
        </p:nvSpPr>
        <p:spPr>
          <a:xfrm>
            <a:off x="8251639" y="2697852"/>
            <a:ext cx="1800000" cy="4148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The KL Farms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3624997-00F6-0319-309B-1E4BC3425489}"/>
              </a:ext>
            </a:extLst>
          </p:cNvPr>
          <p:cNvSpPr/>
          <p:nvPr/>
        </p:nvSpPr>
        <p:spPr>
          <a:xfrm>
            <a:off x="10289510" y="2697852"/>
            <a:ext cx="1800000" cy="4148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Seoul-Well Food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7EAC54-17A6-E399-AE94-BA9F9007EC97}"/>
              </a:ext>
            </a:extLst>
          </p:cNvPr>
          <p:cNvSpPr txBox="1"/>
          <p:nvPr/>
        </p:nvSpPr>
        <p:spPr>
          <a:xfrm>
            <a:off x="8237556" y="4595420"/>
            <a:ext cx="1800000" cy="313547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Seasoned meat(Chilled)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DFA304-167E-2A72-0B20-234F861537B1}"/>
              </a:ext>
            </a:extLst>
          </p:cNvPr>
          <p:cNvSpPr txBox="1"/>
          <p:nvPr/>
        </p:nvSpPr>
        <p:spPr>
          <a:xfrm>
            <a:off x="10289510" y="4595420"/>
            <a:ext cx="1800000" cy="567463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Pork(</a:t>
            </a: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</a:rPr>
              <a:t>Chilled</a:t>
            </a:r>
            <a:r>
              <a:rPr lang="en-US" altLang="ko-KR" sz="1100" dirty="0">
                <a:latin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</a:rPr>
              <a:t>√ </a:t>
            </a:r>
            <a:r>
              <a:rPr lang="en-US" altLang="ko-KR" sz="1100" dirty="0">
                <a:latin typeface="맑은 고딕" panose="020B0503020000020004" pitchFamily="50" charset="-127"/>
              </a:rPr>
              <a:t>Imported Beef(</a:t>
            </a: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</a:rPr>
              <a:t>Chilled</a:t>
            </a:r>
            <a:r>
              <a:rPr lang="en-US" altLang="ko-KR" sz="1100" dirty="0">
                <a:latin typeface="맑은 고딕" panose="020B0503020000020004" pitchFamily="50" charset="-127"/>
              </a:rPr>
              <a:t>)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21466EA-067E-8FD0-D472-7F1E87EB7B37}"/>
              </a:ext>
            </a:extLst>
          </p:cNvPr>
          <p:cNvCxnSpPr>
            <a:cxnSpLocks/>
          </p:cNvCxnSpPr>
          <p:nvPr/>
        </p:nvCxnSpPr>
        <p:spPr>
          <a:xfrm>
            <a:off x="10194588" y="1642533"/>
            <a:ext cx="0" cy="402869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7ADC8CE-DFE3-1221-E94C-E91B09F93C00}"/>
              </a:ext>
            </a:extLst>
          </p:cNvPr>
          <p:cNvSpPr txBox="1"/>
          <p:nvPr/>
        </p:nvSpPr>
        <p:spPr>
          <a:xfrm>
            <a:off x="10470029" y="824983"/>
            <a:ext cx="1612906" cy="31354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맑은 고딕" panose="020B0503020000020004" pitchFamily="50" charset="-127"/>
              </a:rPr>
              <a:t>chilled meat supply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11D070A8-80A5-DA28-1851-8E3A18CD4744}"/>
              </a:ext>
            </a:extLst>
          </p:cNvPr>
          <p:cNvCxnSpPr>
            <a:cxnSpLocks/>
            <a:stCxn id="7" idx="0"/>
            <a:endCxn id="4" idx="3"/>
          </p:cNvCxnSpPr>
          <p:nvPr/>
        </p:nvCxnSpPr>
        <p:spPr>
          <a:xfrm rot="16200000" flipV="1">
            <a:off x="9934728" y="555619"/>
            <a:ext cx="652212" cy="18442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66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db9e3de-48be-4a26-b20c-c500709e8bda}" enabled="1" method="Privileged" siteId="{87e734d2-81fe-407c-9938-f7a800ab7ed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1617</Words>
  <Application>Microsoft Office PowerPoint</Application>
  <PresentationFormat>와이드스크린</PresentationFormat>
  <Paragraphs>277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CH Seok [PL Food Technical Services]</dc:creator>
  <cp:lastModifiedBy>Jacob CH Seok [PL Food Technical Services]</cp:lastModifiedBy>
  <cp:revision>15</cp:revision>
  <dcterms:created xsi:type="dcterms:W3CDTF">2026-04-06T04:08:20Z</dcterms:created>
  <dcterms:modified xsi:type="dcterms:W3CDTF">2026-05-21T04:07:28Z</dcterms:modified>
</cp:coreProperties>
</file>